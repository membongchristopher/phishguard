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0" d="100"/>
          <a:sy n="80" d="100"/>
        </p:scale>
        <p:origin x="1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F945AF9-C597-4E01-91A5-C9574ACCF80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0930B8AF-054F-444A-B948-DB2518D39EA0}" type="slidenum">
              <a:rPr lang="en-US" smtClean="0"/>
              <a:t>‹#›</a:t>
            </a:fld>
            <a:endParaRPr lang="en-US"/>
          </a:p>
        </p:txBody>
      </p:sp>
    </p:spTree>
    <p:extLst>
      <p:ext uri="{BB962C8B-B14F-4D97-AF65-F5344CB8AC3E}">
        <p14:creationId xmlns:p14="http://schemas.microsoft.com/office/powerpoint/2010/main" val="182276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945AF9-C597-4E01-91A5-C9574ACCF80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30B8AF-054F-444A-B948-DB2518D39EA0}" type="slidenum">
              <a:rPr lang="en-US" smtClean="0"/>
              <a:t>‹#›</a:t>
            </a:fld>
            <a:endParaRPr lang="en-US"/>
          </a:p>
        </p:txBody>
      </p:sp>
    </p:spTree>
    <p:extLst>
      <p:ext uri="{BB962C8B-B14F-4D97-AF65-F5344CB8AC3E}">
        <p14:creationId xmlns:p14="http://schemas.microsoft.com/office/powerpoint/2010/main" val="175969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945AF9-C597-4E01-91A5-C9574ACCF80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0930B8AF-054F-444A-B948-DB2518D39EA0}" type="slidenum">
              <a:rPr lang="en-US" smtClean="0"/>
              <a:t>‹#›</a:t>
            </a:fld>
            <a:endParaRPr lang="en-US"/>
          </a:p>
        </p:txBody>
      </p:sp>
    </p:spTree>
    <p:extLst>
      <p:ext uri="{BB962C8B-B14F-4D97-AF65-F5344CB8AC3E}">
        <p14:creationId xmlns:p14="http://schemas.microsoft.com/office/powerpoint/2010/main" val="1238042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F945AF9-C597-4E01-91A5-C9574ACCF80F}"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30B8AF-054F-444A-B948-DB2518D39EA0}" type="slidenum">
              <a:rPr lang="en-US" smtClean="0"/>
              <a:t>‹#›</a:t>
            </a:fld>
            <a:endParaRPr lang="en-US"/>
          </a:p>
        </p:txBody>
      </p:sp>
    </p:spTree>
    <p:extLst>
      <p:ext uri="{BB962C8B-B14F-4D97-AF65-F5344CB8AC3E}">
        <p14:creationId xmlns:p14="http://schemas.microsoft.com/office/powerpoint/2010/main" val="3516375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945AF9-C597-4E01-91A5-C9574ACCF80F}" type="datetimeFigureOut">
              <a:rPr lang="en-US" smtClean="0"/>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930B8AF-054F-444A-B948-DB2518D39EA0}" type="slidenum">
              <a:rPr lang="en-US" smtClean="0"/>
              <a:t>‹#›</a:t>
            </a:fld>
            <a:endParaRPr lang="en-US"/>
          </a:p>
        </p:txBody>
      </p:sp>
    </p:spTree>
    <p:extLst>
      <p:ext uri="{BB962C8B-B14F-4D97-AF65-F5344CB8AC3E}">
        <p14:creationId xmlns:p14="http://schemas.microsoft.com/office/powerpoint/2010/main" val="3040158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945AF9-C597-4E01-91A5-C9574ACCF80F}" type="datetimeFigureOut">
              <a:rPr lang="en-US" smtClean="0"/>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930B8AF-054F-444A-B948-DB2518D39EA0}" type="slidenum">
              <a:rPr lang="en-US" smtClean="0"/>
              <a:t>‹#›</a:t>
            </a:fld>
            <a:endParaRPr lang="en-US"/>
          </a:p>
        </p:txBody>
      </p:sp>
    </p:spTree>
    <p:extLst>
      <p:ext uri="{BB962C8B-B14F-4D97-AF65-F5344CB8AC3E}">
        <p14:creationId xmlns:p14="http://schemas.microsoft.com/office/powerpoint/2010/main" val="3987718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BF945AF9-C597-4E01-91A5-C9574ACCF80F}" type="datetimeFigureOut">
              <a:rPr lang="en-US" smtClean="0"/>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930B8AF-054F-444A-B948-DB2518D39EA0}" type="slidenum">
              <a:rPr lang="en-US" smtClean="0"/>
              <a:t>‹#›</a:t>
            </a:fld>
            <a:endParaRPr lang="en-US"/>
          </a:p>
        </p:txBody>
      </p:sp>
    </p:spTree>
    <p:extLst>
      <p:ext uri="{BB962C8B-B14F-4D97-AF65-F5344CB8AC3E}">
        <p14:creationId xmlns:p14="http://schemas.microsoft.com/office/powerpoint/2010/main" val="886294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945AF9-C597-4E01-91A5-C9574ACCF80F}"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30B8AF-054F-444A-B948-DB2518D39EA0}" type="slidenum">
              <a:rPr lang="en-US" smtClean="0"/>
              <a:t>‹#›</a:t>
            </a:fld>
            <a:endParaRPr lang="en-US"/>
          </a:p>
        </p:txBody>
      </p:sp>
    </p:spTree>
    <p:extLst>
      <p:ext uri="{BB962C8B-B14F-4D97-AF65-F5344CB8AC3E}">
        <p14:creationId xmlns:p14="http://schemas.microsoft.com/office/powerpoint/2010/main" val="1998925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945AF9-C597-4E01-91A5-C9574ACCF80F}"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30B8AF-054F-444A-B948-DB2518D39EA0}" type="slidenum">
              <a:rPr lang="en-US" smtClean="0"/>
              <a:t>‹#›</a:t>
            </a:fld>
            <a:endParaRPr lang="en-US"/>
          </a:p>
        </p:txBody>
      </p:sp>
    </p:spTree>
    <p:extLst>
      <p:ext uri="{BB962C8B-B14F-4D97-AF65-F5344CB8AC3E}">
        <p14:creationId xmlns:p14="http://schemas.microsoft.com/office/powerpoint/2010/main" val="4171909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945AF9-C597-4E01-91A5-C9574ACCF80F}"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0930B8AF-054F-444A-B948-DB2518D39EA0}" type="slidenum">
              <a:rPr lang="en-US" smtClean="0"/>
              <a:t>‹#›</a:t>
            </a:fld>
            <a:endParaRPr lang="en-US"/>
          </a:p>
        </p:txBody>
      </p:sp>
    </p:spTree>
    <p:extLst>
      <p:ext uri="{BB962C8B-B14F-4D97-AF65-F5344CB8AC3E}">
        <p14:creationId xmlns:p14="http://schemas.microsoft.com/office/powerpoint/2010/main" val="1989050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945AF9-C597-4E01-91A5-C9574ACCF80F}"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0930B8AF-054F-444A-B948-DB2518D39EA0}" type="slidenum">
              <a:rPr lang="en-US" smtClean="0"/>
              <a:t>‹#›</a:t>
            </a:fld>
            <a:endParaRPr lang="en-US"/>
          </a:p>
        </p:txBody>
      </p:sp>
    </p:spTree>
    <p:extLst>
      <p:ext uri="{BB962C8B-B14F-4D97-AF65-F5344CB8AC3E}">
        <p14:creationId xmlns:p14="http://schemas.microsoft.com/office/powerpoint/2010/main" val="4085424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945AF9-C597-4E01-91A5-C9574ACCF80F}"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0930B8AF-054F-444A-B948-DB2518D39EA0}"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28826706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945AF9-C597-4E01-91A5-C9574ACCF80F}"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0930B8AF-054F-444A-B948-DB2518D39EA0}" type="slidenum">
              <a:rPr lang="en-US" smtClean="0"/>
              <a:t>‹#›</a:t>
            </a:fld>
            <a:endParaRPr lang="en-US"/>
          </a:p>
        </p:txBody>
      </p:sp>
    </p:spTree>
    <p:extLst>
      <p:ext uri="{BB962C8B-B14F-4D97-AF65-F5344CB8AC3E}">
        <p14:creationId xmlns:p14="http://schemas.microsoft.com/office/powerpoint/2010/main" val="15836813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F945AF9-C597-4E01-91A5-C9574ACCF80F}" type="datetimeFigureOut">
              <a:rPr lang="en-US" smtClean="0"/>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930B8AF-054F-444A-B948-DB2518D39EA0}" type="slidenum">
              <a:rPr lang="en-US" smtClean="0"/>
              <a:t>‹#›</a:t>
            </a:fld>
            <a:endParaRPr lang="en-US"/>
          </a:p>
        </p:txBody>
      </p:sp>
    </p:spTree>
    <p:extLst>
      <p:ext uri="{BB962C8B-B14F-4D97-AF65-F5344CB8AC3E}">
        <p14:creationId xmlns:p14="http://schemas.microsoft.com/office/powerpoint/2010/main" val="38426944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F945AF9-C597-4E01-91A5-C9574ACCF80F}" type="datetimeFigureOut">
              <a:rPr lang="en-US" smtClean="0"/>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930B8AF-054F-444A-B948-DB2518D39EA0}" type="slidenum">
              <a:rPr lang="en-US" smtClean="0"/>
              <a:t>‹#›</a:t>
            </a:fld>
            <a:endParaRPr lang="en-US"/>
          </a:p>
        </p:txBody>
      </p:sp>
    </p:spTree>
    <p:extLst>
      <p:ext uri="{BB962C8B-B14F-4D97-AF65-F5344CB8AC3E}">
        <p14:creationId xmlns:p14="http://schemas.microsoft.com/office/powerpoint/2010/main" val="9328004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945AF9-C597-4E01-91A5-C9574ACCF80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30B8AF-054F-444A-B948-DB2518D39EA0}" type="slidenum">
              <a:rPr lang="en-US" smtClean="0"/>
              <a:t>‹#›</a:t>
            </a:fld>
            <a:endParaRPr lang="en-US"/>
          </a:p>
        </p:txBody>
      </p:sp>
    </p:spTree>
    <p:extLst>
      <p:ext uri="{BB962C8B-B14F-4D97-AF65-F5344CB8AC3E}">
        <p14:creationId xmlns:p14="http://schemas.microsoft.com/office/powerpoint/2010/main" val="11814985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BF945AF9-C597-4E01-91A5-C9574ACCF80F}" type="datetimeFigureOut">
              <a:rPr lang="en-US" smtClean="0"/>
              <a:t>4/2/2026</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0930B8AF-054F-444A-B948-DB2518D39EA0}" type="slidenum">
              <a:rPr lang="en-US" smtClean="0"/>
              <a:t>‹#›</a:t>
            </a:fld>
            <a:endParaRPr lang="en-US"/>
          </a:p>
        </p:txBody>
      </p:sp>
    </p:spTree>
    <p:extLst>
      <p:ext uri="{BB962C8B-B14F-4D97-AF65-F5344CB8AC3E}">
        <p14:creationId xmlns:p14="http://schemas.microsoft.com/office/powerpoint/2010/main" val="279901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F945AF9-C597-4E01-91A5-C9574ACCF80F}" type="datetimeFigureOut">
              <a:rPr lang="en-US" smtClean="0"/>
              <a:t>4/2/2026</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0930B8AF-054F-444A-B948-DB2518D39EA0}" type="slidenum">
              <a:rPr lang="en-US" smtClean="0"/>
              <a:t>‹#›</a:t>
            </a:fld>
            <a:endParaRPr lang="en-US"/>
          </a:p>
        </p:txBody>
      </p:sp>
    </p:spTree>
    <p:extLst>
      <p:ext uri="{BB962C8B-B14F-4D97-AF65-F5344CB8AC3E}">
        <p14:creationId xmlns:p14="http://schemas.microsoft.com/office/powerpoint/2010/main" val="236357011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phishguard-2b23.onrender.co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33000-F408-49C9-860C-FC4001B0B21B}"/>
              </a:ext>
            </a:extLst>
          </p:cNvPr>
          <p:cNvSpPr>
            <a:spLocks noGrp="1"/>
          </p:cNvSpPr>
          <p:nvPr>
            <p:ph type="ctrTitle"/>
          </p:nvPr>
        </p:nvSpPr>
        <p:spPr/>
        <p:txBody>
          <a:bodyPr/>
          <a:lstStyle/>
          <a:p>
            <a:r>
              <a:rPr lang="en-US" dirty="0"/>
              <a:t>INTRODUCTION</a:t>
            </a:r>
          </a:p>
        </p:txBody>
      </p:sp>
      <p:sp>
        <p:nvSpPr>
          <p:cNvPr id="3" name="Subtitle 2">
            <a:extLst>
              <a:ext uri="{FF2B5EF4-FFF2-40B4-BE49-F238E27FC236}">
                <a16:creationId xmlns:a16="http://schemas.microsoft.com/office/drawing/2014/main" id="{AF6592FA-024D-4067-8518-32069547FDF0}"/>
              </a:ext>
            </a:extLst>
          </p:cNvPr>
          <p:cNvSpPr>
            <a:spLocks noGrp="1"/>
          </p:cNvSpPr>
          <p:nvPr>
            <p:ph type="subTitle" idx="1"/>
          </p:nvPr>
        </p:nvSpPr>
        <p:spPr/>
        <p:txBody>
          <a:bodyPr>
            <a:normAutofit lnSpcReduction="10000"/>
          </a:bodyPr>
          <a:lstStyle/>
          <a:p>
            <a:pPr algn="l"/>
            <a:r>
              <a:rPr lang="en-US" sz="2000" dirty="0">
                <a:latin typeface="Times New Roman" panose="02020603050405020304" pitchFamily="18" charset="0"/>
                <a:cs typeface="Times New Roman" panose="02020603050405020304" pitchFamily="18" charset="0"/>
              </a:rPr>
              <a:t>Good Evening. This is group 19A and we are presenting on AI Powered Phishing Detection System. The goal of this project is to build a machine learning system that can analyze any URL and determine whether it is a phishing link or a legitimate website in real time.</a:t>
            </a:r>
          </a:p>
        </p:txBody>
      </p:sp>
    </p:spTree>
    <p:extLst>
      <p:ext uri="{BB962C8B-B14F-4D97-AF65-F5344CB8AC3E}">
        <p14:creationId xmlns:p14="http://schemas.microsoft.com/office/powerpoint/2010/main" val="3396837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18F32-07D9-4753-9827-A2A3CD75B02E}"/>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B0823AA9-CAFF-434D-90FA-5D71DB6756C8}"/>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Phishing attacks are one of the most dangerous cybersecurity threats today. Attackers create fake websites that look exactly like PayPal, Google, or your bank and trick users into entering their passwords and credit card details. Traditional systems use blacklists databases of known bad URLs but these fail against newly created phishing sites that haven't been reported yet. My system uses machine learning to detect phishing patterns even on URLs it has never seen before.</a:t>
            </a:r>
          </a:p>
        </p:txBody>
      </p:sp>
    </p:spTree>
    <p:extLst>
      <p:ext uri="{BB962C8B-B14F-4D97-AF65-F5344CB8AC3E}">
        <p14:creationId xmlns:p14="http://schemas.microsoft.com/office/powerpoint/2010/main" val="1049496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43692-03E7-43CC-984A-E6B9234B023F}"/>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SHOWING</a:t>
            </a:r>
            <a:r>
              <a:rPr lang="en-US" dirty="0"/>
              <a:t> </a:t>
            </a:r>
            <a:r>
              <a:rPr lang="en-US" dirty="0">
                <a:latin typeface="Times New Roman" panose="02020603050405020304" pitchFamily="18" charset="0"/>
                <a:cs typeface="Times New Roman" panose="02020603050405020304" pitchFamily="18" charset="0"/>
              </a:rPr>
              <a:t>LIVE</a:t>
            </a:r>
            <a:r>
              <a:rPr lang="en-US" dirty="0"/>
              <a:t> </a:t>
            </a:r>
            <a:r>
              <a:rPr lang="en-US" dirty="0">
                <a:latin typeface="Times New Roman" panose="02020603050405020304" pitchFamily="18" charset="0"/>
                <a:cs typeface="Times New Roman" panose="02020603050405020304" pitchFamily="18" charset="0"/>
              </a:rPr>
              <a:t>DASHBOARD</a:t>
            </a:r>
          </a:p>
        </p:txBody>
      </p:sp>
      <p:sp>
        <p:nvSpPr>
          <p:cNvPr id="3" name="Content Placeholder 2">
            <a:extLst>
              <a:ext uri="{FF2B5EF4-FFF2-40B4-BE49-F238E27FC236}">
                <a16:creationId xmlns:a16="http://schemas.microsoft.com/office/drawing/2014/main" id="{A6CD2B60-3655-47EE-BA49-C4A8F969B64B}"/>
              </a:ext>
            </a:extLst>
          </p:cNvPr>
          <p:cNvSpPr>
            <a:spLocks noGrp="1"/>
          </p:cNvSpPr>
          <p:nvPr>
            <p:ph idx="1"/>
          </p:nvPr>
        </p:nvSpPr>
        <p:spPr/>
        <p:txBody>
          <a:bodyPr/>
          <a:lstStyle/>
          <a:p>
            <a:r>
              <a:rPr lang="en-US" dirty="0">
                <a:hlinkClick r:id="rId2"/>
              </a:rPr>
              <a:t>https://phishguard-2b23.onrender.com/</a:t>
            </a:r>
            <a:endParaRPr lang="en-US" dirty="0"/>
          </a:p>
          <a:p>
            <a:endParaRPr lang="en-US" dirty="0"/>
          </a:p>
          <a:p>
            <a:r>
              <a:rPr lang="en-US" dirty="0"/>
              <a:t>This is the live deployed system accessible on the internet. It has three pages the URL Scanner, Scan History and an About page explaining how everything works</a:t>
            </a:r>
          </a:p>
        </p:txBody>
      </p:sp>
    </p:spTree>
    <p:extLst>
      <p:ext uri="{BB962C8B-B14F-4D97-AF65-F5344CB8AC3E}">
        <p14:creationId xmlns:p14="http://schemas.microsoft.com/office/powerpoint/2010/main" val="633894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CFBB2-8B04-40CE-8730-1CE8A1D163E7}"/>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SCANNER</a:t>
            </a:r>
          </a:p>
        </p:txBody>
      </p:sp>
      <p:sp>
        <p:nvSpPr>
          <p:cNvPr id="3" name="Content Placeholder 2">
            <a:extLst>
              <a:ext uri="{FF2B5EF4-FFF2-40B4-BE49-F238E27FC236}">
                <a16:creationId xmlns:a16="http://schemas.microsoft.com/office/drawing/2014/main" id="{D5034FFA-1131-41CF-8464-4F765B31D9F7}"/>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I will now scan a phishing URL. Watch the four steps running tokenizing the URL, TF-IDF vectorization, extracting the 15 domain features and the AI prediction. The system returned a risk score of [X]% and correctly identified this as a phishing URL. You can see in the Signal Analysis section that it flagged the suspicious TLD .</a:t>
            </a:r>
            <a:r>
              <a:rPr lang="en-US" sz="2000" dirty="0" err="1">
                <a:latin typeface="Times New Roman" panose="02020603050405020304" pitchFamily="18" charset="0"/>
                <a:cs typeface="Times New Roman" panose="02020603050405020304" pitchFamily="18" charset="0"/>
              </a:rPr>
              <a:t>tk</a:t>
            </a:r>
            <a:r>
              <a:rPr lang="en-US" sz="2000" dirty="0">
                <a:latin typeface="Times New Roman" panose="02020603050405020304" pitchFamily="18" charset="0"/>
                <a:cs typeface="Times New Roman" panose="02020603050405020304" pitchFamily="18" charset="0"/>
              </a:rPr>
              <a:t>, detected brand spoofing where PayPal appears in the domain name but the real registered domain is login-secure, and found multiple suspicious keywords like verify and secure</a:t>
            </a:r>
          </a:p>
          <a:p>
            <a:r>
              <a:rPr lang="en-US" sz="2000" dirty="0">
                <a:latin typeface="Times New Roman" panose="02020603050405020304" pitchFamily="18" charset="0"/>
                <a:cs typeface="Times New Roman" panose="02020603050405020304" pitchFamily="18" charset="0"/>
              </a:rPr>
              <a:t>Now I scan a legitimate URL GitHub. The system correctly returns a low risk score of 2% and marks it as safe.</a:t>
            </a:r>
          </a:p>
        </p:txBody>
      </p:sp>
    </p:spTree>
    <p:extLst>
      <p:ext uri="{BB962C8B-B14F-4D97-AF65-F5344CB8AC3E}">
        <p14:creationId xmlns:p14="http://schemas.microsoft.com/office/powerpoint/2010/main" val="841138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B46C8-38B8-4B19-A3F0-9AB5D132DD97}"/>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ALGORITHM AND MODEL USED</a:t>
            </a:r>
          </a:p>
        </p:txBody>
      </p:sp>
      <p:sp>
        <p:nvSpPr>
          <p:cNvPr id="3" name="Content Placeholder 2">
            <a:extLst>
              <a:ext uri="{FF2B5EF4-FFF2-40B4-BE49-F238E27FC236}">
                <a16:creationId xmlns:a16="http://schemas.microsoft.com/office/drawing/2014/main" id="{AA56179D-D9E6-4E61-97D5-D2B65B0A90C6}"/>
              </a:ext>
            </a:extLst>
          </p:cNvPr>
          <p:cNvSpPr>
            <a:spLocks noGrp="1"/>
          </p:cNvSpPr>
          <p:nvPr>
            <p:ph idx="1"/>
          </p:nvPr>
        </p:nvSpPr>
        <p:spPr/>
        <p:txBody>
          <a:bodyPr>
            <a:normAutofit fontScale="70000" lnSpcReduction="20000"/>
          </a:bodyPr>
          <a:lstStyle/>
          <a:p>
            <a:r>
              <a:rPr lang="en-US" sz="2000" dirty="0">
                <a:latin typeface="Times New Roman" panose="02020603050405020304" pitchFamily="18" charset="0"/>
                <a:cs typeface="Times New Roman" panose="02020603050405020304" pitchFamily="18" charset="0"/>
              </a:rPr>
              <a:t>The system uses a hybrid machine learning pipeline with two types of features working together.</a:t>
            </a:r>
          </a:p>
          <a:p>
            <a:pPr marL="0" indent="0">
              <a:buNone/>
            </a:pPr>
            <a:r>
              <a:rPr lang="en-US" sz="2400" b="1" dirty="0">
                <a:latin typeface="Times New Roman" panose="02020603050405020304" pitchFamily="18" charset="0"/>
                <a:cs typeface="Times New Roman" panose="02020603050405020304" pitchFamily="18" charset="0"/>
              </a:rPr>
              <a:t>Feature 1: TF-IDF Text Analysis:</a:t>
            </a:r>
          </a:p>
          <a:p>
            <a:pPr marL="0" indent="0">
              <a:buNone/>
            </a:pPr>
            <a:r>
              <a:rPr lang="en-US" sz="2200" dirty="0">
                <a:latin typeface="Times New Roman" panose="02020603050405020304" pitchFamily="18" charset="0"/>
                <a:cs typeface="Times New Roman" panose="02020603050405020304" pitchFamily="18" charset="0"/>
              </a:rPr>
              <a:t>The URL is first broken into words using a tokenizer for example paypal-login.tk becomes the tokens </a:t>
            </a:r>
            <a:r>
              <a:rPr lang="en-US" sz="2200" dirty="0" err="1">
                <a:latin typeface="Times New Roman" panose="02020603050405020304" pitchFamily="18" charset="0"/>
                <a:cs typeface="Times New Roman" panose="02020603050405020304" pitchFamily="18" charset="0"/>
              </a:rPr>
              <a:t>paypal</a:t>
            </a:r>
            <a:r>
              <a:rPr lang="en-US" sz="2200" dirty="0">
                <a:latin typeface="Times New Roman" panose="02020603050405020304" pitchFamily="18" charset="0"/>
                <a:cs typeface="Times New Roman" panose="02020603050405020304" pitchFamily="18" charset="0"/>
              </a:rPr>
              <a:t>, login, tk. These tokens are then stemmed  so verify, verified, verifying all become the same root word </a:t>
            </a:r>
            <a:r>
              <a:rPr lang="en-US" sz="2200" dirty="0" err="1">
                <a:latin typeface="Times New Roman" panose="02020603050405020304" pitchFamily="18" charset="0"/>
                <a:cs typeface="Times New Roman" panose="02020603050405020304" pitchFamily="18" charset="0"/>
              </a:rPr>
              <a:t>verifi</a:t>
            </a:r>
            <a:r>
              <a:rPr lang="en-US" sz="2200" dirty="0">
                <a:latin typeface="Times New Roman" panose="02020603050405020304" pitchFamily="18" charset="0"/>
                <a:cs typeface="Times New Roman" panose="02020603050405020304" pitchFamily="18" charset="0"/>
              </a:rPr>
              <a:t>. The tokens are then converted into 50,000 numerical values using TF-IDF Term Frequency Inverse Document Frequency which gives higher weight to tokens that appear frequently in phishing URLs but rarely in legitimate ones.</a:t>
            </a:r>
          </a:p>
          <a:p>
            <a:pPr marL="0" indent="0">
              <a:buNone/>
            </a:pPr>
            <a:r>
              <a:rPr lang="en-US" sz="2400" b="1" dirty="0">
                <a:latin typeface="Times New Roman" panose="02020603050405020304" pitchFamily="18" charset="0"/>
                <a:cs typeface="Times New Roman" panose="02020603050405020304" pitchFamily="18" charset="0"/>
              </a:rPr>
              <a:t>Feature 2: 15 Engineered Features:</a:t>
            </a:r>
          </a:p>
          <a:p>
            <a:pPr marL="0" indent="0">
              <a:buNone/>
            </a:pPr>
            <a:r>
              <a:rPr lang="en-US" sz="2000" dirty="0">
                <a:latin typeface="Times New Roman" panose="02020603050405020304" pitchFamily="18" charset="0"/>
                <a:cs typeface="Times New Roman" panose="02020603050405020304" pitchFamily="18" charset="0"/>
              </a:rPr>
              <a:t>At the same time, 15 specific measurements are extracted from the URL things like URL length, number of dots, whether it uses HTTPS, whether an IP address is used as the domain, whether a known brand name appears in the subdomain but not the real domain which is called brand spoofing and whether it uses suspicious free TLDs like .</a:t>
            </a:r>
            <a:r>
              <a:rPr lang="en-US" sz="2000" dirty="0" err="1">
                <a:latin typeface="Times New Roman" panose="02020603050405020304" pitchFamily="18" charset="0"/>
                <a:cs typeface="Times New Roman" panose="02020603050405020304" pitchFamily="18" charset="0"/>
              </a:rPr>
              <a:t>tk</a:t>
            </a:r>
            <a:r>
              <a:rPr lang="en-US" sz="2000" dirty="0">
                <a:latin typeface="Times New Roman" panose="02020603050405020304" pitchFamily="18" charset="0"/>
                <a:cs typeface="Times New Roman" panose="02020603050405020304" pitchFamily="18" charset="0"/>
              </a:rPr>
              <a:t> or .</a:t>
            </a:r>
            <a:r>
              <a:rPr lang="en-US" sz="2000" dirty="0" err="1">
                <a:latin typeface="Times New Roman" panose="02020603050405020304" pitchFamily="18" charset="0"/>
                <a:cs typeface="Times New Roman" panose="02020603050405020304" pitchFamily="18" charset="0"/>
              </a:rPr>
              <a:t>xyz</a:t>
            </a:r>
            <a:r>
              <a:rPr lang="en-US" sz="20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The Model:</a:t>
            </a:r>
          </a:p>
          <a:p>
            <a:pPr marL="0" indent="0">
              <a:buNone/>
            </a:pPr>
            <a:r>
              <a:rPr lang="en-US" sz="2000" dirty="0">
                <a:latin typeface="Times New Roman" panose="02020603050405020304" pitchFamily="18" charset="0"/>
                <a:cs typeface="Times New Roman" panose="02020603050405020304" pitchFamily="18" charset="0"/>
              </a:rPr>
              <a:t>I trained and compared four machine learning models on a dataset of 549,346 labelled URLs — Multinomial Naive Bayes, Logistic Regression, Random Forest, and Gradient Boosting. The Random Forest Classifier achieved the best performance with 98.1% accuracy and an AUC-ROC score of 0.994. This model was selected for deployment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864421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EA9A5-8641-4F2C-A4ED-6F56F3C71A4D}"/>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ABOUT PAGE</a:t>
            </a:r>
          </a:p>
        </p:txBody>
      </p:sp>
      <p:sp>
        <p:nvSpPr>
          <p:cNvPr id="3" name="Content Placeholder 2">
            <a:extLst>
              <a:ext uri="{FF2B5EF4-FFF2-40B4-BE49-F238E27FC236}">
                <a16:creationId xmlns:a16="http://schemas.microsoft.com/office/drawing/2014/main" id="{E607419E-5460-4498-A34A-38621ED45D81}"/>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About page explains all six components of the system including the hybrid pipeline, the Random Forest model, brand spoofing detection, suspicious TLD detection, IP address detection, and the Flask REST API backend. It also shows all 15 engineered features with their descriptions.</a:t>
            </a:r>
          </a:p>
        </p:txBody>
      </p:sp>
    </p:spTree>
    <p:extLst>
      <p:ext uri="{BB962C8B-B14F-4D97-AF65-F5344CB8AC3E}">
        <p14:creationId xmlns:p14="http://schemas.microsoft.com/office/powerpoint/2010/main" val="2252115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4B507-0230-4F7C-ADBA-4404CED63470}"/>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SCAN HISTORY</a:t>
            </a:r>
          </a:p>
        </p:txBody>
      </p:sp>
      <p:sp>
        <p:nvSpPr>
          <p:cNvPr id="3" name="Content Placeholder 2">
            <a:extLst>
              <a:ext uri="{FF2B5EF4-FFF2-40B4-BE49-F238E27FC236}">
                <a16:creationId xmlns:a16="http://schemas.microsoft.com/office/drawing/2014/main" id="{FCFF91ED-1BA3-44ED-9660-AF1B9679B96B}"/>
              </a:ext>
            </a:extLst>
          </p:cNvPr>
          <p:cNvSpPr>
            <a:spLocks noGrp="1"/>
          </p:cNvSpPr>
          <p:nvPr>
            <p:ph idx="1"/>
          </p:nvPr>
        </p:nvSpPr>
        <p:spPr/>
        <p:txBody>
          <a:bodyPr/>
          <a:lstStyle/>
          <a:p>
            <a:r>
              <a:rPr lang="en-US" dirty="0"/>
              <a:t>The system keeps a full scan history of every URL checked. You can filter by Safe or Threats, and click any row to rescan that URL. The risk score is color coded green for safe, orange for medium, red for high risk.</a:t>
            </a:r>
          </a:p>
        </p:txBody>
      </p:sp>
    </p:spTree>
    <p:extLst>
      <p:ext uri="{BB962C8B-B14F-4D97-AF65-F5344CB8AC3E}">
        <p14:creationId xmlns:p14="http://schemas.microsoft.com/office/powerpoint/2010/main" val="1704682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3C3BC-4D83-40BF-95D7-2D4511062CC9}"/>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THE TECH STACK OF THE SYSTEM</a:t>
            </a:r>
          </a:p>
        </p:txBody>
      </p:sp>
      <p:sp>
        <p:nvSpPr>
          <p:cNvPr id="3" name="Content Placeholder 2">
            <a:extLst>
              <a:ext uri="{FF2B5EF4-FFF2-40B4-BE49-F238E27FC236}">
                <a16:creationId xmlns:a16="http://schemas.microsoft.com/office/drawing/2014/main" id="{997F291A-09B8-4BBD-A79E-E7D696E74DD9}"/>
              </a:ext>
            </a:extLst>
          </p:cNvPr>
          <p:cNvSpPr>
            <a:spLocks noGrp="1"/>
          </p:cNvSpPr>
          <p:nvPr>
            <p:ph idx="1"/>
          </p:nvPr>
        </p:nvSpPr>
        <p:spPr/>
        <p:txBody>
          <a:bodyPr>
            <a:normAutofit fontScale="85000" lnSpcReduction="20000"/>
          </a:bodyPr>
          <a:lstStyle/>
          <a:p>
            <a:pPr marL="0" indent="0" algn="ctr">
              <a:buNone/>
            </a:pPr>
            <a:r>
              <a:rPr lang="en-US" sz="3900" b="1" i="1" dirty="0">
                <a:latin typeface="Times New Roman" panose="02020603050405020304" pitchFamily="18" charset="0"/>
                <a:cs typeface="Times New Roman" panose="02020603050405020304" pitchFamily="18" charset="0"/>
              </a:rPr>
              <a:t>The system was built using the following technologies:</a:t>
            </a:r>
            <a:endParaRPr lang="en-US" sz="39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Python for the entire machine learning pipeline</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scikit-learn for the machine learning models</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NLTK for tokenization and stemming</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TF-IDF Vectorizer for text feature extraction</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Flask for the web application backend</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HTML, CSS and JavaScript for the frontend dashboard</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i="1" dirty="0" err="1">
                <a:latin typeface="Times New Roman" panose="02020603050405020304" pitchFamily="18" charset="0"/>
                <a:cs typeface="Times New Roman" panose="02020603050405020304" pitchFamily="18" charset="0"/>
              </a:rPr>
              <a:t>Joblib</a:t>
            </a:r>
            <a:r>
              <a:rPr lang="en-US" i="1" dirty="0">
                <a:latin typeface="Times New Roman" panose="02020603050405020304" pitchFamily="18" charset="0"/>
                <a:cs typeface="Times New Roman" panose="02020603050405020304" pitchFamily="18" charset="0"/>
              </a:rPr>
              <a:t> for saving and loading the trained model</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GitHub for version control</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Render for cloud deployment</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6270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6B31D-8670-4BFA-817D-0D109A8B5385}"/>
              </a:ext>
            </a:extLst>
          </p:cNvPr>
          <p:cNvSpPr>
            <a:spLocks noGrp="1"/>
          </p:cNvSpPr>
          <p:nvPr>
            <p:ph type="title"/>
          </p:nvPr>
        </p:nvSpPr>
        <p:spPr/>
        <p:txBody>
          <a:bodyPr>
            <a:normAutofit/>
          </a:bodyPr>
          <a:lstStyle/>
          <a:p>
            <a:pPr algn="ctr"/>
            <a:r>
              <a:rPr lang="en-US" sz="4800" dirty="0">
                <a:latin typeface="Times New Roman" panose="02020603050405020304" pitchFamily="18" charset="0"/>
                <a:cs typeface="Times New Roman" panose="02020603050405020304" pitchFamily="18" charset="0"/>
              </a:rPr>
              <a:t>SYSTEM LIMITATIONS</a:t>
            </a:r>
          </a:p>
        </p:txBody>
      </p:sp>
      <p:sp>
        <p:nvSpPr>
          <p:cNvPr id="3" name="Content Placeholder 2">
            <a:extLst>
              <a:ext uri="{FF2B5EF4-FFF2-40B4-BE49-F238E27FC236}">
                <a16:creationId xmlns:a16="http://schemas.microsoft.com/office/drawing/2014/main" id="{77A046EE-EA57-430B-9469-D5BA49AAC4C9}"/>
              </a:ext>
            </a:extLst>
          </p:cNvPr>
          <p:cNvSpPr>
            <a:spLocks noGrp="1"/>
          </p:cNvSpPr>
          <p:nvPr>
            <p:ph idx="1"/>
          </p:nvPr>
        </p:nvSpPr>
        <p:spPr/>
        <p:txBody>
          <a:bodyPr/>
          <a:lstStyle/>
          <a:p>
            <a:r>
              <a:rPr lang="en-US" dirty="0"/>
              <a:t>The system has some known limitations. First it is URL-only it does not read the page content. Second the training dataset was collected before 2023 so very new legitimate websites like DeepSeek are not known to the model  I addressed this by adding a trusted domain whitelist. Third URL shorteners like bit.ly can hide phishing destinations since the model cannot follow redirects. These limitations are documented in my Chapter 5 future work recommendations in the documentation</a:t>
            </a:r>
          </a:p>
        </p:txBody>
      </p:sp>
    </p:spTree>
    <p:extLst>
      <p:ext uri="{BB962C8B-B14F-4D97-AF65-F5344CB8AC3E}">
        <p14:creationId xmlns:p14="http://schemas.microsoft.com/office/powerpoint/2010/main" val="3986284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B056D-8890-45AE-9285-5E778404A3D3}"/>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CLOSING STATEMENT</a:t>
            </a:r>
          </a:p>
        </p:txBody>
      </p:sp>
      <p:sp>
        <p:nvSpPr>
          <p:cNvPr id="3" name="Content Placeholder 2">
            <a:extLst>
              <a:ext uri="{FF2B5EF4-FFF2-40B4-BE49-F238E27FC236}">
                <a16:creationId xmlns:a16="http://schemas.microsoft.com/office/drawing/2014/main" id="{9EFC42A0-6E8D-4F16-90A1-A87FFF3B8A51}"/>
              </a:ext>
            </a:extLst>
          </p:cNvPr>
          <p:cNvSpPr>
            <a:spLocks noGrp="1"/>
          </p:cNvSpPr>
          <p:nvPr>
            <p:ph idx="1"/>
          </p:nvPr>
        </p:nvSpPr>
        <p:spPr/>
        <p:txBody>
          <a:bodyPr/>
          <a:lstStyle/>
          <a:p>
            <a:r>
              <a:rPr lang="en-US" dirty="0"/>
              <a:t>In summary, this project successfully demonstrates that a hybrid machine learning system combining TF-IDF text analysis with engineered domain intelligence features can detect phishing URLs with 98.1% accuracy. The system is fully deployed, live on the internet, and provides real-time detection with detailed explanations for every result. Thank you.</a:t>
            </a:r>
          </a:p>
        </p:txBody>
      </p:sp>
    </p:spTree>
    <p:extLst>
      <p:ext uri="{BB962C8B-B14F-4D97-AF65-F5344CB8AC3E}">
        <p14:creationId xmlns:p14="http://schemas.microsoft.com/office/powerpoint/2010/main" val="133690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A4455-83F4-4AC7-BAA0-94509988D703}"/>
              </a:ext>
            </a:extLst>
          </p:cNvPr>
          <p:cNvSpPr>
            <a:spLocks noGrp="1"/>
          </p:cNvSpPr>
          <p:nvPr>
            <p:ph type="title"/>
          </p:nvPr>
        </p:nvSpPr>
        <p:spPr/>
        <p:txBody>
          <a:bodyPr>
            <a:normAutofit/>
          </a:bodyPr>
          <a:lstStyle/>
          <a:p>
            <a:pPr algn="ctr"/>
            <a:r>
              <a:rPr lang="en-US" sz="4800" dirty="0">
                <a:latin typeface="Times New Roman" panose="02020603050405020304" pitchFamily="18" charset="0"/>
                <a:cs typeface="Times New Roman" panose="02020603050405020304" pitchFamily="18" charset="0"/>
              </a:rPr>
              <a:t>KEY NUMBERS TO REMEMBER </a:t>
            </a:r>
          </a:p>
        </p:txBody>
      </p:sp>
      <p:graphicFrame>
        <p:nvGraphicFramePr>
          <p:cNvPr id="4" name="Content Placeholder 3">
            <a:extLst>
              <a:ext uri="{FF2B5EF4-FFF2-40B4-BE49-F238E27FC236}">
                <a16:creationId xmlns:a16="http://schemas.microsoft.com/office/drawing/2014/main" id="{183A05C7-5CBC-4E1A-B781-637DB9D28854}"/>
              </a:ext>
            </a:extLst>
          </p:cNvPr>
          <p:cNvGraphicFramePr>
            <a:graphicFrameLocks noGrp="1"/>
          </p:cNvGraphicFramePr>
          <p:nvPr>
            <p:ph idx="1"/>
            <p:extLst>
              <p:ext uri="{D42A27DB-BD31-4B8C-83A1-F6EECF244321}">
                <p14:modId xmlns:p14="http://schemas.microsoft.com/office/powerpoint/2010/main" val="2655058661"/>
              </p:ext>
            </p:extLst>
          </p:nvPr>
        </p:nvGraphicFramePr>
        <p:xfrm>
          <a:off x="838200" y="2538253"/>
          <a:ext cx="10894888" cy="4100376"/>
        </p:xfrm>
        <a:graphic>
          <a:graphicData uri="http://schemas.openxmlformats.org/drawingml/2006/table">
            <a:tbl>
              <a:tblPr/>
              <a:tblGrid>
                <a:gridCol w="5447444">
                  <a:extLst>
                    <a:ext uri="{9D8B030D-6E8A-4147-A177-3AD203B41FA5}">
                      <a16:colId xmlns:a16="http://schemas.microsoft.com/office/drawing/2014/main" val="1671241990"/>
                    </a:ext>
                  </a:extLst>
                </a:gridCol>
                <a:gridCol w="5447444">
                  <a:extLst>
                    <a:ext uri="{9D8B030D-6E8A-4147-A177-3AD203B41FA5}">
                      <a16:colId xmlns:a16="http://schemas.microsoft.com/office/drawing/2014/main" val="3713626735"/>
                    </a:ext>
                  </a:extLst>
                </a:gridCol>
              </a:tblGrid>
              <a:tr h="494328">
                <a:tc>
                  <a:txBody>
                    <a:bodyPr/>
                    <a:lstStyle/>
                    <a:p>
                      <a:r>
                        <a:rPr lang="en-US" b="1" dirty="0"/>
                        <a:t>Fact</a:t>
                      </a:r>
                    </a:p>
                  </a:txBody>
                  <a:tcPr anchor="ctr">
                    <a:lnL>
                      <a:noFill/>
                    </a:lnL>
                    <a:lnR>
                      <a:noFill/>
                    </a:lnR>
                    <a:lnT>
                      <a:noFill/>
                    </a:lnT>
                    <a:lnB>
                      <a:noFill/>
                    </a:lnB>
                  </a:tcPr>
                </a:tc>
                <a:tc>
                  <a:txBody>
                    <a:bodyPr/>
                    <a:lstStyle/>
                    <a:p>
                      <a:r>
                        <a:rPr lang="en-US" b="1" dirty="0"/>
                        <a:t>Number</a:t>
                      </a:r>
                    </a:p>
                  </a:txBody>
                  <a:tcPr anchor="ctr">
                    <a:lnL>
                      <a:noFill/>
                    </a:lnL>
                    <a:lnR>
                      <a:noFill/>
                    </a:lnR>
                    <a:lnT>
                      <a:noFill/>
                    </a:lnT>
                    <a:lnB>
                      <a:noFill/>
                    </a:lnB>
                  </a:tcPr>
                </a:tc>
                <a:extLst>
                  <a:ext uri="{0D108BD9-81ED-4DB2-BD59-A6C34878D82A}">
                    <a16:rowId xmlns:a16="http://schemas.microsoft.com/office/drawing/2014/main" val="3520722241"/>
                  </a:ext>
                </a:extLst>
              </a:tr>
              <a:tr h="494328">
                <a:tc>
                  <a:txBody>
                    <a:bodyPr/>
                    <a:lstStyle/>
                    <a:p>
                      <a:r>
                        <a:rPr lang="en-US"/>
                        <a:t>Dataset size</a:t>
                      </a:r>
                    </a:p>
                  </a:txBody>
                  <a:tcPr anchor="ctr">
                    <a:lnL>
                      <a:noFill/>
                    </a:lnL>
                    <a:lnR>
                      <a:noFill/>
                    </a:lnR>
                    <a:lnT>
                      <a:noFill/>
                    </a:lnT>
                    <a:lnB>
                      <a:noFill/>
                    </a:lnB>
                  </a:tcPr>
                </a:tc>
                <a:tc>
                  <a:txBody>
                    <a:bodyPr/>
                    <a:lstStyle/>
                    <a:p>
                      <a:r>
                        <a:rPr lang="en-US"/>
                        <a:t>549,346 URLs</a:t>
                      </a:r>
                    </a:p>
                  </a:txBody>
                  <a:tcPr anchor="ctr">
                    <a:lnL>
                      <a:noFill/>
                    </a:lnL>
                    <a:lnR>
                      <a:noFill/>
                    </a:lnR>
                    <a:lnT>
                      <a:noFill/>
                    </a:lnT>
                    <a:lnB>
                      <a:noFill/>
                    </a:lnB>
                  </a:tcPr>
                </a:tc>
                <a:extLst>
                  <a:ext uri="{0D108BD9-81ED-4DB2-BD59-A6C34878D82A}">
                    <a16:rowId xmlns:a16="http://schemas.microsoft.com/office/drawing/2014/main" val="1786392225"/>
                  </a:ext>
                </a:extLst>
              </a:tr>
              <a:tr h="494328">
                <a:tc>
                  <a:txBody>
                    <a:bodyPr/>
                    <a:lstStyle/>
                    <a:p>
                      <a:r>
                        <a:rPr lang="en-US"/>
                        <a:t>Features</a:t>
                      </a:r>
                    </a:p>
                  </a:txBody>
                  <a:tcPr anchor="ctr">
                    <a:lnL>
                      <a:noFill/>
                    </a:lnL>
                    <a:lnR>
                      <a:noFill/>
                    </a:lnR>
                    <a:lnT>
                      <a:noFill/>
                    </a:lnT>
                    <a:lnB>
                      <a:noFill/>
                    </a:lnB>
                  </a:tcPr>
                </a:tc>
                <a:tc>
                  <a:txBody>
                    <a:bodyPr/>
                    <a:lstStyle/>
                    <a:p>
                      <a:r>
                        <a:rPr lang="en-US"/>
                        <a:t>15 numerical + 50,000 TF-IDF</a:t>
                      </a:r>
                    </a:p>
                  </a:txBody>
                  <a:tcPr anchor="ctr">
                    <a:lnL>
                      <a:noFill/>
                    </a:lnL>
                    <a:lnR>
                      <a:noFill/>
                    </a:lnR>
                    <a:lnT>
                      <a:noFill/>
                    </a:lnT>
                    <a:lnB>
                      <a:noFill/>
                    </a:lnB>
                  </a:tcPr>
                </a:tc>
                <a:extLst>
                  <a:ext uri="{0D108BD9-81ED-4DB2-BD59-A6C34878D82A}">
                    <a16:rowId xmlns:a16="http://schemas.microsoft.com/office/drawing/2014/main" val="2124295790"/>
                  </a:ext>
                </a:extLst>
              </a:tr>
              <a:tr h="494328">
                <a:tc>
                  <a:txBody>
                    <a:bodyPr/>
                    <a:lstStyle/>
                    <a:p>
                      <a:r>
                        <a:rPr lang="en-US"/>
                        <a:t>Best model</a:t>
                      </a:r>
                    </a:p>
                  </a:txBody>
                  <a:tcPr anchor="ctr">
                    <a:lnL>
                      <a:noFill/>
                    </a:lnL>
                    <a:lnR>
                      <a:noFill/>
                    </a:lnR>
                    <a:lnT>
                      <a:noFill/>
                    </a:lnT>
                    <a:lnB>
                      <a:noFill/>
                    </a:lnB>
                  </a:tcPr>
                </a:tc>
                <a:tc>
                  <a:txBody>
                    <a:bodyPr/>
                    <a:lstStyle/>
                    <a:p>
                      <a:r>
                        <a:rPr lang="en-US"/>
                        <a:t>Random Forest</a:t>
                      </a:r>
                    </a:p>
                  </a:txBody>
                  <a:tcPr anchor="ctr">
                    <a:lnL>
                      <a:noFill/>
                    </a:lnL>
                    <a:lnR>
                      <a:noFill/>
                    </a:lnR>
                    <a:lnT>
                      <a:noFill/>
                    </a:lnT>
                    <a:lnB>
                      <a:noFill/>
                    </a:lnB>
                  </a:tcPr>
                </a:tc>
                <a:extLst>
                  <a:ext uri="{0D108BD9-81ED-4DB2-BD59-A6C34878D82A}">
                    <a16:rowId xmlns:a16="http://schemas.microsoft.com/office/drawing/2014/main" val="2904010073"/>
                  </a:ext>
                </a:extLst>
              </a:tr>
              <a:tr h="494328">
                <a:tc>
                  <a:txBody>
                    <a:bodyPr/>
                    <a:lstStyle/>
                    <a:p>
                      <a:r>
                        <a:rPr lang="en-US"/>
                        <a:t>Accuracy</a:t>
                      </a:r>
                    </a:p>
                  </a:txBody>
                  <a:tcPr anchor="ctr">
                    <a:lnL>
                      <a:noFill/>
                    </a:lnL>
                    <a:lnR>
                      <a:noFill/>
                    </a:lnR>
                    <a:lnT>
                      <a:noFill/>
                    </a:lnT>
                    <a:lnB>
                      <a:noFill/>
                    </a:lnB>
                  </a:tcPr>
                </a:tc>
                <a:tc>
                  <a:txBody>
                    <a:bodyPr/>
                    <a:lstStyle/>
                    <a:p>
                      <a:r>
                        <a:rPr lang="en-US"/>
                        <a:t>98.1%</a:t>
                      </a:r>
                    </a:p>
                  </a:txBody>
                  <a:tcPr anchor="ctr">
                    <a:lnL>
                      <a:noFill/>
                    </a:lnL>
                    <a:lnR>
                      <a:noFill/>
                    </a:lnR>
                    <a:lnT>
                      <a:noFill/>
                    </a:lnT>
                    <a:lnB>
                      <a:noFill/>
                    </a:lnB>
                  </a:tcPr>
                </a:tc>
                <a:extLst>
                  <a:ext uri="{0D108BD9-81ED-4DB2-BD59-A6C34878D82A}">
                    <a16:rowId xmlns:a16="http://schemas.microsoft.com/office/drawing/2014/main" val="3595079774"/>
                  </a:ext>
                </a:extLst>
              </a:tr>
              <a:tr h="494328">
                <a:tc>
                  <a:txBody>
                    <a:bodyPr/>
                    <a:lstStyle/>
                    <a:p>
                      <a:r>
                        <a:rPr lang="en-US"/>
                        <a:t>AUC-ROC</a:t>
                      </a:r>
                    </a:p>
                  </a:txBody>
                  <a:tcPr anchor="ctr">
                    <a:lnL>
                      <a:noFill/>
                    </a:lnL>
                    <a:lnR>
                      <a:noFill/>
                    </a:lnR>
                    <a:lnT>
                      <a:noFill/>
                    </a:lnT>
                    <a:lnB>
                      <a:noFill/>
                    </a:lnB>
                  </a:tcPr>
                </a:tc>
                <a:tc>
                  <a:txBody>
                    <a:bodyPr/>
                    <a:lstStyle/>
                    <a:p>
                      <a:r>
                        <a:rPr lang="en-US"/>
                        <a:t>0.994</a:t>
                      </a:r>
                    </a:p>
                  </a:txBody>
                  <a:tcPr anchor="ctr">
                    <a:lnL>
                      <a:noFill/>
                    </a:lnL>
                    <a:lnR>
                      <a:noFill/>
                    </a:lnR>
                    <a:lnT>
                      <a:noFill/>
                    </a:lnT>
                    <a:lnB>
                      <a:noFill/>
                    </a:lnB>
                  </a:tcPr>
                </a:tc>
                <a:extLst>
                  <a:ext uri="{0D108BD9-81ED-4DB2-BD59-A6C34878D82A}">
                    <a16:rowId xmlns:a16="http://schemas.microsoft.com/office/drawing/2014/main" val="3032846953"/>
                  </a:ext>
                </a:extLst>
              </a:tr>
              <a:tr h="494328">
                <a:tc>
                  <a:txBody>
                    <a:bodyPr/>
                    <a:lstStyle/>
                    <a:p>
                      <a:r>
                        <a:rPr lang="en-US" dirty="0"/>
                        <a:t>Models compared</a:t>
                      </a:r>
                    </a:p>
                  </a:txBody>
                  <a:tcPr anchor="ctr">
                    <a:lnL>
                      <a:noFill/>
                    </a:lnL>
                    <a:lnR>
                      <a:noFill/>
                    </a:lnR>
                    <a:lnT>
                      <a:noFill/>
                    </a:lnT>
                    <a:lnB>
                      <a:noFill/>
                    </a:lnB>
                  </a:tcPr>
                </a:tc>
                <a:tc>
                  <a:txBody>
                    <a:bodyPr/>
                    <a:lstStyle/>
                    <a:p>
                      <a:r>
                        <a:rPr lang="en-US"/>
                        <a:t>4</a:t>
                      </a:r>
                    </a:p>
                  </a:txBody>
                  <a:tcPr anchor="ctr">
                    <a:lnL>
                      <a:noFill/>
                    </a:lnL>
                    <a:lnR>
                      <a:noFill/>
                    </a:lnR>
                    <a:lnT>
                      <a:noFill/>
                    </a:lnT>
                    <a:lnB>
                      <a:noFill/>
                    </a:lnB>
                  </a:tcPr>
                </a:tc>
                <a:extLst>
                  <a:ext uri="{0D108BD9-81ED-4DB2-BD59-A6C34878D82A}">
                    <a16:rowId xmlns:a16="http://schemas.microsoft.com/office/drawing/2014/main" val="105266281"/>
                  </a:ext>
                </a:extLst>
              </a:tr>
              <a:tr h="494328">
                <a:tc>
                  <a:txBody>
                    <a:bodyPr/>
                    <a:lstStyle/>
                    <a:p>
                      <a:r>
                        <a:rPr lang="en-US" dirty="0"/>
                        <a:t>Deployment</a:t>
                      </a:r>
                    </a:p>
                    <a:p>
                      <a:endParaRPr lang="en-US" dirty="0"/>
                    </a:p>
                  </a:txBody>
                  <a:tcPr anchor="ctr">
                    <a:lnL>
                      <a:noFill/>
                    </a:lnL>
                    <a:lnR>
                      <a:noFill/>
                    </a:lnR>
                    <a:lnT>
                      <a:noFill/>
                    </a:lnT>
                    <a:lnB>
                      <a:noFill/>
                    </a:lnB>
                  </a:tcPr>
                </a:tc>
                <a:tc>
                  <a:txBody>
                    <a:bodyPr/>
                    <a:lstStyle/>
                    <a:p>
                      <a:r>
                        <a:rPr lang="en-US" dirty="0"/>
                        <a:t>Render.com — live online</a:t>
                      </a:r>
                    </a:p>
                  </a:txBody>
                  <a:tcPr anchor="ctr">
                    <a:lnL>
                      <a:noFill/>
                    </a:lnL>
                    <a:lnR>
                      <a:noFill/>
                    </a:lnR>
                    <a:lnT>
                      <a:noFill/>
                    </a:lnT>
                    <a:lnB>
                      <a:noFill/>
                    </a:lnB>
                  </a:tcPr>
                </a:tc>
                <a:extLst>
                  <a:ext uri="{0D108BD9-81ED-4DB2-BD59-A6C34878D82A}">
                    <a16:rowId xmlns:a16="http://schemas.microsoft.com/office/drawing/2014/main" val="1034014624"/>
                  </a:ext>
                </a:extLst>
              </a:tr>
            </a:tbl>
          </a:graphicData>
        </a:graphic>
      </p:graphicFrame>
    </p:spTree>
    <p:extLst>
      <p:ext uri="{BB962C8B-B14F-4D97-AF65-F5344CB8AC3E}">
        <p14:creationId xmlns:p14="http://schemas.microsoft.com/office/powerpoint/2010/main" val="1243935220"/>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35</TotalTime>
  <Words>881</Words>
  <Application>Microsoft Office PowerPoint</Application>
  <PresentationFormat>Widescreen</PresentationFormat>
  <Paragraphs>55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Times New Roman</vt:lpstr>
      <vt:lpstr>Trebuchet MS</vt:lpstr>
      <vt:lpstr>Berlin</vt:lpstr>
      <vt:lpstr>INTRODUCTION</vt:lpstr>
      <vt:lpstr>PROBLEM STATEMENT</vt:lpstr>
      <vt:lpstr>SHOWING LIVE DASHBOARD</vt:lpstr>
      <vt:lpstr>SCANNER</vt:lpstr>
      <vt:lpstr>ALGORITHM AND MODEL USED</vt:lpstr>
      <vt:lpstr>ABOUT PAGE</vt:lpstr>
      <vt:lpstr>SCAN HISTORY</vt:lpstr>
      <vt:lpstr>THE TECH STACK OF THE SYSTEM</vt:lpstr>
      <vt:lpstr>SYSTEM LIMITATIONS</vt:lpstr>
      <vt:lpstr>CLOSING STATEMENT</vt:lpstr>
      <vt:lpstr>KEY NUMBERS TO REMEMBER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CHRIS</dc:creator>
  <cp:lastModifiedBy>CHRIS</cp:lastModifiedBy>
  <cp:revision>5</cp:revision>
  <dcterms:created xsi:type="dcterms:W3CDTF">2026-04-02T14:56:15Z</dcterms:created>
  <dcterms:modified xsi:type="dcterms:W3CDTF">2026-04-02T15:32:09Z</dcterms:modified>
</cp:coreProperties>
</file>